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855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74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6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911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02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092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643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190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3214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990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2583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5183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8788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8431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0C91FF0-4BE1-4127-9568-2C4F660D91D1}" type="datetimeFigureOut">
              <a:rPr lang="hu-HU" smtClean="0"/>
              <a:t>2022.02.03.</a:t>
            </a:fld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00162B35-DFCD-4FA0-BB5E-8FB871276D2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1882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Laptopok és egyéb mobileszközök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582490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Mobilitás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Azt jelenti, hogy otthonunktól vagy munkahelyünktől is hozzáférhetünk elektronikus információkhoz.</a:t>
            </a:r>
          </a:p>
          <a:p>
            <a:r>
              <a:rPr lang="hu-HU" dirty="0"/>
              <a:t>Mobiltelefonos vagy egyéb adatkapcsolat szükséges hozzá. </a:t>
            </a:r>
            <a:endParaRPr lang="hu-HU" dirty="0" smtClean="0"/>
          </a:p>
          <a:p>
            <a:r>
              <a:rPr lang="hu-HU" dirty="0" smtClean="0"/>
              <a:t>A mobileszközök kicsik és könnyűek, saját újratölthető áramforrással rendelkeznek.</a:t>
            </a:r>
          </a:p>
        </p:txBody>
      </p:sp>
    </p:spTree>
    <p:extLst>
      <p:ext uri="{BB962C8B-B14F-4D97-AF65-F5344CB8AC3E}">
        <p14:creationId xmlns:p14="http://schemas.microsoft.com/office/powerpoint/2010/main" val="2056478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Laptopok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Hordozható számítógépek, teljes képességű operációs rendszert futtatnak (Microsoft Windows/</a:t>
            </a:r>
            <a:r>
              <a:rPr lang="hu-HU" dirty="0" err="1" smtClean="0"/>
              <a:t>iOS</a:t>
            </a:r>
            <a:r>
              <a:rPr lang="hu-HU" dirty="0" smtClean="0"/>
              <a:t>/Linux).</a:t>
            </a:r>
          </a:p>
          <a:p>
            <a:r>
              <a:rPr lang="hu-HU" dirty="0" smtClean="0"/>
              <a:t>A laptopoknak saját képernyőjük, billentyűzetük és mutatóeszközük (pl.: </a:t>
            </a:r>
            <a:r>
              <a:rPr lang="hu-HU" dirty="0" err="1" smtClean="0"/>
              <a:t>touchpad</a:t>
            </a:r>
            <a:r>
              <a:rPr lang="hu-HU" dirty="0" smtClean="0"/>
              <a:t>) van.</a:t>
            </a:r>
          </a:p>
          <a:p>
            <a:r>
              <a:rPr lang="hu-HU" dirty="0" smtClean="0"/>
              <a:t>Működhetnek saját </a:t>
            </a:r>
            <a:r>
              <a:rPr lang="hu-HU" dirty="0" err="1" smtClean="0"/>
              <a:t>akkumlátorról</a:t>
            </a:r>
            <a:r>
              <a:rPr lang="hu-HU" dirty="0" smtClean="0"/>
              <a:t> vagy elektromos hálózatról is.</a:t>
            </a:r>
          </a:p>
          <a:p>
            <a:r>
              <a:rPr lang="hu-HU" dirty="0" smtClean="0"/>
              <a:t>Általában többfajta </a:t>
            </a:r>
            <a:r>
              <a:rPr lang="hu-HU" dirty="0"/>
              <a:t>kapcsolódási lehetőségük van: vezetékes vagy vezeték nélküli Ethernet és </a:t>
            </a:r>
            <a:r>
              <a:rPr lang="hu-HU" dirty="0" err="1"/>
              <a:t>Bluetooth</a:t>
            </a:r>
            <a:r>
              <a:rPr lang="hu-HU" dirty="0"/>
              <a:t>.</a:t>
            </a:r>
            <a:endParaRPr lang="hu-HU" dirty="0" smtClean="0"/>
          </a:p>
          <a:p>
            <a:endParaRPr lang="hu-HU" dirty="0" smtClean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330258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Okostelefonok jellemzői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okostelefonok a laptopokkal ellentétben direkt mobileszközökre tervezett operációs rendszereket </a:t>
            </a:r>
            <a:r>
              <a:rPr lang="hu-HU" dirty="0" smtClean="0"/>
              <a:t>futtatnak (Google </a:t>
            </a:r>
            <a:r>
              <a:rPr lang="hu-HU" dirty="0" err="1" smtClean="0"/>
              <a:t>Android</a:t>
            </a:r>
            <a:r>
              <a:rPr lang="hu-HU" dirty="0" smtClean="0"/>
              <a:t> / Apple </a:t>
            </a:r>
            <a:r>
              <a:rPr lang="hu-HU" dirty="0" err="1" smtClean="0"/>
              <a:t>iOS</a:t>
            </a:r>
            <a:r>
              <a:rPr lang="hu-HU" dirty="0" smtClean="0"/>
              <a:t>).</a:t>
            </a:r>
          </a:p>
          <a:p>
            <a:r>
              <a:rPr lang="hu-HU" dirty="0"/>
              <a:t>Az operációs rendszer frissítése korlátozott, ha elavul és nem frissíthető, kénytelenek leszünk új telefont venni, ha szeretnénk az új operációs rendszer tudását </a:t>
            </a:r>
            <a:r>
              <a:rPr lang="hu-HU" dirty="0" smtClean="0"/>
              <a:t>igénybe </a:t>
            </a:r>
            <a:r>
              <a:rPr lang="hu-HU" dirty="0"/>
              <a:t>venni</a:t>
            </a:r>
            <a:r>
              <a:rPr lang="hu-HU" dirty="0" smtClean="0"/>
              <a:t>.</a:t>
            </a:r>
          </a:p>
          <a:p>
            <a:r>
              <a:rPr lang="hu-HU" dirty="0" smtClean="0"/>
              <a:t>Az okostelefonok egy másik funkciója a mobilnet megosztása más eszközökkel, az úgynevezett pányvázás (</a:t>
            </a:r>
            <a:r>
              <a:rPr lang="hu-HU" dirty="0" err="1" smtClean="0"/>
              <a:t>tethering</a:t>
            </a:r>
            <a:r>
              <a:rPr lang="hu-HU" dirty="0" smtClean="0"/>
              <a:t>).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tabletek</a:t>
            </a:r>
            <a:r>
              <a:rPr lang="hu-HU" dirty="0" smtClean="0"/>
              <a:t> is hasonló tulajdonsággal rendelkeznek, csak nem tudnak mobilhálózatra csatlakozni.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638028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Laptop alaplapok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laptopok kompakt mérete miatt számos belső alkatrésznek kell kis helyen elférnie</a:t>
            </a:r>
            <a:r>
              <a:rPr lang="hu-HU" dirty="0" smtClean="0"/>
              <a:t>.</a:t>
            </a:r>
          </a:p>
          <a:p>
            <a:r>
              <a:rPr lang="hu-HU" dirty="0"/>
              <a:t>Néhány laptop összetevőt, ilyen például a processzor is, úgy terveznek, hogy kisebb fogyasztásával hosszabb üzemidőt tegyen lehetővé akkumulátorról használva</a:t>
            </a:r>
            <a:r>
              <a:rPr lang="hu-HU" dirty="0" smtClean="0"/>
              <a:t>.</a:t>
            </a:r>
          </a:p>
          <a:p>
            <a:r>
              <a:rPr lang="hu-HU" dirty="0" smtClean="0"/>
              <a:t>Belső összetevők: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Processzorok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SATA-meghajtók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SSD-meghajtók</a:t>
            </a:r>
          </a:p>
          <a:p>
            <a:pPr marL="0" indent="0">
              <a:buNone/>
            </a:pPr>
            <a:endParaRPr lang="hu-HU" dirty="0" smtClean="0"/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589" y="3335868"/>
            <a:ext cx="4541882" cy="335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816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6800" y="599588"/>
            <a:ext cx="10571998" cy="970450"/>
          </a:xfrm>
        </p:spPr>
        <p:txBody>
          <a:bodyPr/>
          <a:lstStyle/>
          <a:p>
            <a:r>
              <a:rPr lang="hu-HU" dirty="0" err="1" smtClean="0"/>
              <a:t>Bluetooth</a:t>
            </a:r>
            <a:r>
              <a:rPr lang="hu-HU" dirty="0" smtClean="0"/>
              <a:t>, </a:t>
            </a:r>
            <a:r>
              <a:rPr lang="hu-HU" dirty="0"/>
              <a:t>m</a:t>
            </a:r>
            <a:r>
              <a:rPr lang="hu-HU" dirty="0" smtClean="0"/>
              <a:t>obil adatkapcsolat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Bluetooth</a:t>
            </a:r>
            <a:r>
              <a:rPr lang="hu-HU" dirty="0"/>
              <a:t> eszközök hang, zene, videó és adatok átvitelére is alkalmasak</a:t>
            </a:r>
            <a:r>
              <a:rPr lang="hu-HU" dirty="0" smtClean="0"/>
              <a:t>.</a:t>
            </a:r>
          </a:p>
          <a:p>
            <a:r>
              <a:rPr lang="hu-HU" dirty="0"/>
              <a:t>A </a:t>
            </a:r>
            <a:r>
              <a:rPr lang="hu-HU" dirty="0" err="1"/>
              <a:t>Bluetooth</a:t>
            </a:r>
            <a:r>
              <a:rPr lang="hu-HU" dirty="0"/>
              <a:t> egy kétszintű hálózati szabvány: a fizikai és a protokoll rétegből áll. </a:t>
            </a:r>
            <a:endParaRPr lang="hu-HU" dirty="0" smtClean="0"/>
          </a:p>
          <a:p>
            <a:r>
              <a:rPr lang="hu-HU" dirty="0"/>
              <a:t>A fizikai szint rádiófrekvenciás szabványokon </a:t>
            </a:r>
            <a:r>
              <a:rPr lang="hu-HU" dirty="0" smtClean="0"/>
              <a:t>alapul.</a:t>
            </a:r>
          </a:p>
          <a:p>
            <a:r>
              <a:rPr lang="hu-HU" dirty="0" smtClean="0"/>
              <a:t>Mobil adatkapcsolat: </a:t>
            </a:r>
            <a:r>
              <a:rPr lang="hu-HU" dirty="0"/>
              <a:t>A laptopba beépített mobilhálózati illesztő használatához sem egyéb </a:t>
            </a:r>
            <a:r>
              <a:rPr lang="hu-HU" dirty="0" smtClean="0"/>
              <a:t>s</a:t>
            </a:r>
            <a:r>
              <a:rPr lang="hu-HU" dirty="0"/>
              <a:t>zoftver telepítése, sem külső antenna használata nem szükséges. </a:t>
            </a:r>
            <a:endParaRPr lang="hu-HU" dirty="0" smtClean="0"/>
          </a:p>
          <a:p>
            <a:r>
              <a:rPr lang="hu-HU" dirty="0"/>
              <a:t>A laptop bekapcsolásakor a mobilhálózat szolgáltatás már használható is</a:t>
            </a:r>
            <a:r>
              <a:rPr lang="hu-HU" dirty="0" smtClean="0"/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82514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ACPI-beállítások a </a:t>
            </a:r>
            <a:r>
              <a:rPr lang="hu-HU" dirty="0" smtClean="0"/>
              <a:t>BIOS-</a:t>
            </a:r>
            <a:r>
              <a:rPr lang="hu-HU" dirty="0" err="1" smtClean="0"/>
              <a:t>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energiagazdálkodás beállításait a szakemberek legtöbbször a BIOS vagy UEFI beállításainál kezdik. </a:t>
            </a:r>
            <a:endParaRPr lang="hu-HU" dirty="0" smtClean="0"/>
          </a:p>
          <a:p>
            <a:r>
              <a:rPr lang="hu-HU" dirty="0"/>
              <a:t>A beállítások a következőkre vonatkozhatnak: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Rendszer energiaállapotai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Akkumulátor és tápellátás beállításai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Túlmelegedés kezelése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CPU PCI-busz energiagazdálkodása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A gép felébresztése hálózaton keresztül (</a:t>
            </a:r>
            <a:r>
              <a:rPr lang="hu-HU" dirty="0" err="1"/>
              <a:t>Wake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LAN, WOL)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23005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Bővítőkártyák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18712" y="2222287"/>
            <a:ext cx="10563286" cy="3636511"/>
          </a:xfrm>
        </p:spPr>
        <p:txBody>
          <a:bodyPr/>
          <a:lstStyle/>
          <a:p>
            <a:r>
              <a:rPr lang="hu-HU" dirty="0"/>
              <a:t>A laptopok egyik hátránya az asztali számítógépekkel szemben az, hogy a kis méret miatt bizonyos funkciók hiányozhatnak belőlük</a:t>
            </a:r>
            <a:r>
              <a:rPr lang="hu-HU" dirty="0" smtClean="0"/>
              <a:t>.</a:t>
            </a:r>
          </a:p>
          <a:p>
            <a:r>
              <a:rPr lang="hu-HU" dirty="0"/>
              <a:t>Néhány bővítési lehetőség, melyeket </a:t>
            </a:r>
            <a:r>
              <a:rPr lang="hu-HU" dirty="0" err="1"/>
              <a:t>ExpressCard</a:t>
            </a:r>
            <a:r>
              <a:rPr lang="hu-HU" dirty="0"/>
              <a:t> segítségével valósíthatunk meg</a:t>
            </a:r>
            <a:r>
              <a:rPr lang="hu-HU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Memóriakártya-olvasó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Külső merevlemezes tároló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TV-</a:t>
            </a:r>
            <a:r>
              <a:rPr lang="hu-HU" dirty="0" err="1"/>
              <a:t>tuner</a:t>
            </a:r>
            <a:r>
              <a:rPr lang="hu-HU" dirty="0"/>
              <a:t> kártya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/>
              <a:t>USB és </a:t>
            </a:r>
            <a:r>
              <a:rPr lang="hu-HU" dirty="0" err="1"/>
              <a:t>FireWire</a:t>
            </a:r>
            <a:r>
              <a:rPr lang="hu-HU" dirty="0"/>
              <a:t> aljzatok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u-HU" dirty="0" err="1"/>
              <a:t>Wi</a:t>
            </a:r>
            <a:r>
              <a:rPr lang="hu-HU" dirty="0"/>
              <a:t>-Fi kapcsolat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166" y="3700329"/>
            <a:ext cx="4143494" cy="254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671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499002"/>
              </p:ext>
            </p:extLst>
          </p:nvPr>
        </p:nvGraphicFramePr>
        <p:xfrm>
          <a:off x="-3" y="0"/>
          <a:ext cx="6236900" cy="7094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450">
                  <a:extLst>
                    <a:ext uri="{9D8B030D-6E8A-4147-A177-3AD203B41FA5}">
                      <a16:colId xmlns:a16="http://schemas.microsoft.com/office/drawing/2014/main" val="2903306594"/>
                    </a:ext>
                  </a:extLst>
                </a:gridCol>
                <a:gridCol w="3118450">
                  <a:extLst>
                    <a:ext uri="{9D8B030D-6E8A-4147-A177-3AD203B41FA5}">
                      <a16:colId xmlns:a16="http://schemas.microsoft.com/office/drawing/2014/main" val="3366866973"/>
                    </a:ext>
                  </a:extLst>
                </a:gridCol>
              </a:tblGrid>
              <a:tr h="278410">
                <a:tc gridSpan="2">
                  <a:txBody>
                    <a:bodyPr/>
                    <a:lstStyle/>
                    <a:p>
                      <a:r>
                        <a:rPr lang="hu-H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lépés: A probléma azonosítása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 hMerge="1">
                  <a:txBody>
                    <a:bodyPr/>
                    <a:lstStyle/>
                    <a:p>
                      <a:endParaRPr lang="hu-HU" sz="1400" dirty="0"/>
                    </a:p>
                  </a:txBody>
                  <a:tcPr marL="68621" marR="68621" marT="34311" marB="34311"/>
                </a:tc>
                <a:extLst>
                  <a:ext uri="{0D108BD9-81ED-4DB2-BD59-A6C34878D82A}">
                    <a16:rowId xmlns:a16="http://schemas.microsoft.com/office/drawing/2014/main" val="4156020032"/>
                  </a:ext>
                </a:extLst>
              </a:tr>
              <a:tr h="278410">
                <a:tc gridSpan="2"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probléma azonosítása laptopok esetében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145364"/>
                  </a:ext>
                </a:extLst>
              </a:tr>
              <a:tr h="1753012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Nyílt végű kérdések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Milyen problémákat tapasztal a laptoppal?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Milyen programokat telepített a közelmúltban?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Mit csinált, amikor a problémát tapasztalta?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Milyen hibaüzenetet kapott?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 marL="68621" marR="68621" marT="34311" marB="34311"/>
                </a:tc>
                <a:extLst>
                  <a:ext uri="{0D108BD9-81ED-4DB2-BD59-A6C34878D82A}">
                    <a16:rowId xmlns:a16="http://schemas.microsoft.com/office/drawing/2014/main" val="116405471"/>
                  </a:ext>
                </a:extLst>
              </a:tr>
              <a:tr h="1963669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Zárt végű kérdések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Van-e laptopra garancia?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laptop most akkumulátorról üzemmel? Működik a laptop hálózati</a:t>
                      </a:r>
                      <a:b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adapterrel? Elindul a laptop és az operációs rendszer felülete is</a:t>
                      </a:r>
                      <a:b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látszik?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 marL="68621" marR="68621" marT="34311" marB="34311"/>
                </a:tc>
                <a:extLst>
                  <a:ext uri="{0D108BD9-81ED-4DB2-BD59-A6C34878D82A}">
                    <a16:rowId xmlns:a16="http://schemas.microsoft.com/office/drawing/2014/main" val="1563310740"/>
                  </a:ext>
                </a:extLst>
              </a:tr>
              <a:tr h="278410">
                <a:tc gridSpan="2"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probléma azonosítása mobileszközök esetében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934451"/>
                  </a:ext>
                </a:extLst>
              </a:tr>
              <a:tr h="1121040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Nyílt végű kérdések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Milyen problémát tapasztalt?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 a mobileszköz gyártója és típusa?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Melyik szolgáltatót használja?</a:t>
                      </a:r>
                    </a:p>
                    <a:p>
                      <a:endParaRPr lang="hu-HU" sz="1400" dirty="0"/>
                    </a:p>
                  </a:txBody>
                  <a:tcPr marL="68621" marR="68621" marT="34311" marB="34311"/>
                </a:tc>
                <a:extLst>
                  <a:ext uri="{0D108BD9-81ED-4DB2-BD59-A6C34878D82A}">
                    <a16:rowId xmlns:a16="http://schemas.microsoft.com/office/drawing/2014/main" val="1047826253"/>
                  </a:ext>
                </a:extLst>
              </a:tr>
              <a:tr h="1331697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Zárt végű kérdések</a:t>
                      </a:r>
                      <a:endParaRPr lang="hu-HU" sz="1400" dirty="0"/>
                    </a:p>
                  </a:txBody>
                  <a:tcPr marL="68621" marR="68621" marT="34311" marB="3431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hu-H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Használta más is a mobil készülé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s-E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et?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Van-e a mobileszközre garancia?</a:t>
                      </a:r>
                    </a:p>
                    <a:p>
                      <a:endParaRPr lang="hu-HU" sz="1400" dirty="0"/>
                    </a:p>
                  </a:txBody>
                  <a:tcPr marL="68621" marR="68621" marT="34311" marB="34311"/>
                </a:tc>
                <a:extLst>
                  <a:ext uri="{0D108BD9-81ED-4DB2-BD59-A6C34878D82A}">
                    <a16:rowId xmlns:a16="http://schemas.microsoft.com/office/drawing/2014/main" val="1293000445"/>
                  </a:ext>
                </a:extLst>
              </a:tr>
            </a:tbl>
          </a:graphicData>
        </a:graphic>
      </p:graphicFrame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256474"/>
              </p:ext>
            </p:extLst>
          </p:nvPr>
        </p:nvGraphicFramePr>
        <p:xfrm>
          <a:off x="6236897" y="0"/>
          <a:ext cx="5955102" cy="685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551">
                  <a:extLst>
                    <a:ext uri="{9D8B030D-6E8A-4147-A177-3AD203B41FA5}">
                      <a16:colId xmlns:a16="http://schemas.microsoft.com/office/drawing/2014/main" val="3040617827"/>
                    </a:ext>
                  </a:extLst>
                </a:gridCol>
                <a:gridCol w="2977551">
                  <a:extLst>
                    <a:ext uri="{9D8B030D-6E8A-4147-A177-3AD203B41FA5}">
                      <a16:colId xmlns:a16="http://schemas.microsoft.com/office/drawing/2014/main" val="3781724574"/>
                    </a:ext>
                  </a:extLst>
                </a:gridCol>
              </a:tblGrid>
              <a:tr h="963919">
                <a:tc gridSpan="2">
                  <a:txBody>
                    <a:bodyPr/>
                    <a:lstStyle/>
                    <a:p>
                      <a:r>
                        <a:rPr lang="hu-H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lépés: A lehetséges okok meghatározása</a:t>
                      </a:r>
                      <a:endParaRPr lang="hu-H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118533"/>
                  </a:ext>
                </a:extLst>
              </a:tr>
              <a:tr h="2661843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Laptopok problémáinak gyakori okai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 </a:t>
                      </a:r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akkumlátor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lemerült.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 </a:t>
                      </a:r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akkumlátor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nem töltődik fel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Laza kábelkapcsolatok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billentyűzet nem működik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Num Lock billentyű bekapcsolva maradt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Kimozdult RAM-modul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883958"/>
                  </a:ext>
                </a:extLst>
              </a:tr>
              <a:tr h="3232236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Mobileszközök problémáinak gyakori okai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Mobileszközök problémáinak gyakori okai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 akkumlátor már nem tartja a töltést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Kosz gyűlt fel a hangszóró-,mikrofon-vagy töltőaljzatban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mobileszközt leejtették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mobileszközt vízbe ejtették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569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323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ábláza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270770"/>
              </p:ext>
            </p:extLst>
          </p:nvPr>
        </p:nvGraphicFramePr>
        <p:xfrm>
          <a:off x="0" y="3"/>
          <a:ext cx="6185140" cy="697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2570">
                  <a:extLst>
                    <a:ext uri="{9D8B030D-6E8A-4147-A177-3AD203B41FA5}">
                      <a16:colId xmlns:a16="http://schemas.microsoft.com/office/drawing/2014/main" val="870186392"/>
                    </a:ext>
                  </a:extLst>
                </a:gridCol>
                <a:gridCol w="3092570">
                  <a:extLst>
                    <a:ext uri="{9D8B030D-6E8A-4147-A177-3AD203B41FA5}">
                      <a16:colId xmlns:a16="http://schemas.microsoft.com/office/drawing/2014/main" val="1435190842"/>
                    </a:ext>
                  </a:extLst>
                </a:gridCol>
              </a:tblGrid>
              <a:tr h="241108">
                <a:tc gridSpan="2">
                  <a:txBody>
                    <a:bodyPr/>
                    <a:lstStyle/>
                    <a:p>
                      <a:r>
                        <a:rPr lang="hu-H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lépés: Az elmélet tesztelése a hiba okának meghatározásához</a:t>
                      </a:r>
                      <a:endParaRPr lang="hu-HU" sz="1400" dirty="0"/>
                    </a:p>
                  </a:txBody>
                  <a:tcPr marL="50608" marR="50608" marT="25304" marB="25304"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22079"/>
                  </a:ext>
                </a:extLst>
              </a:tr>
              <a:tr h="3748994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Gyakori lépések az ok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meghatározására laptopok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esetében</a:t>
                      </a:r>
                      <a:endParaRPr lang="hu-HU" sz="1400" dirty="0"/>
                    </a:p>
                  </a:txBody>
                  <a:tcPr marL="50608" marR="50608" marT="25304" marB="2530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Próbáljuk hálózati adapterről használni.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Cseréljük ki az </a:t>
                      </a:r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akkumlátort</a:t>
                      </a:r>
                      <a:endParaRPr lang="hu-H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indítsuk újra a laptopot.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Ellenőrizzük a BIOS-beállításokat.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Húzzuk ki, majd dugjuk be újra a kábeleket.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Húzzuk ki a perifériákat.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Nyomjuk meg a Num Lock gombot.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Vegyük ki, majd tegyük be újra a RAM-modulokat.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Caps Lock </a:t>
                      </a:r>
                      <a:r>
                        <a:rPr lang="en-US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billentyű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bekapcsolva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maradt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Ellenőrizzük, hogy nem maradt-e indítólemez az indításra</a:t>
                      </a:r>
                      <a:b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kijelölt meghajtóban.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 marL="50608" marR="50608" marT="25304" marB="25304"/>
                </a:tc>
                <a:extLst>
                  <a:ext uri="{0D108BD9-81ED-4DB2-BD59-A6C34878D82A}">
                    <a16:rowId xmlns:a16="http://schemas.microsoft.com/office/drawing/2014/main" val="518992691"/>
                  </a:ext>
                </a:extLst>
              </a:tr>
              <a:tr h="2384816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Gyakori lépések az ok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meghatározására mobileszközök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esetében</a:t>
                      </a:r>
                      <a:endParaRPr lang="hu-HU" sz="1400" dirty="0"/>
                    </a:p>
                  </a:txBody>
                  <a:tcPr marL="50608" marR="50608" marT="25304" marB="2530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Indítsuk újra a mobilkészüléket.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Csatlakoztassunk hálózati adaptert a készülékhez.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Cseréljük ki a mobileszköz </a:t>
                      </a:r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akkumlátorát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Vegyük ki az </a:t>
                      </a:r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akkumlátort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(amennyiben eltávolítható). majd tegyük vissza.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Tisztítsuk meg a hangszóró-, mikrofon-, töltő- és egyéb</a:t>
                      </a:r>
                      <a:b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csatlakozókat!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 marL="50608" marR="50608" marT="25304" marB="25304"/>
                </a:tc>
                <a:extLst>
                  <a:ext uri="{0D108BD9-81ED-4DB2-BD59-A6C34878D82A}">
                    <a16:rowId xmlns:a16="http://schemas.microsoft.com/office/drawing/2014/main" val="2394017979"/>
                  </a:ext>
                </a:extLst>
              </a:tr>
            </a:tbl>
          </a:graphicData>
        </a:graphic>
      </p:graphicFrame>
      <p:graphicFrame>
        <p:nvGraphicFramePr>
          <p:cNvPr id="3" name="Tábláza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932165"/>
              </p:ext>
            </p:extLst>
          </p:nvPr>
        </p:nvGraphicFramePr>
        <p:xfrm>
          <a:off x="6185140" y="3"/>
          <a:ext cx="6006860" cy="3892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430">
                  <a:extLst>
                    <a:ext uri="{9D8B030D-6E8A-4147-A177-3AD203B41FA5}">
                      <a16:colId xmlns:a16="http://schemas.microsoft.com/office/drawing/2014/main" val="359564425"/>
                    </a:ext>
                  </a:extLst>
                </a:gridCol>
                <a:gridCol w="3003430">
                  <a:extLst>
                    <a:ext uri="{9D8B030D-6E8A-4147-A177-3AD203B41FA5}">
                      <a16:colId xmlns:a16="http://schemas.microsoft.com/office/drawing/2014/main" val="3688733409"/>
                    </a:ext>
                  </a:extLst>
                </a:gridCol>
              </a:tblGrid>
              <a:tr h="537305">
                <a:tc gridSpan="2">
                  <a:txBody>
                    <a:bodyPr/>
                    <a:lstStyle/>
                    <a:p>
                      <a:r>
                        <a:rPr lang="hu-H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lépés: Megoldás tervének elkészítése és megvalósítása</a:t>
                      </a:r>
                      <a:endParaRPr lang="hu-H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601054"/>
                  </a:ext>
                </a:extLst>
              </a:tr>
              <a:tr h="3355125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 az előző lépésben nem született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megoldás, akkor további vizsgálatra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van szükség a megoldás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megtalálásához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 ügyfélszolgálat által vezetett javítási naplók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 ügyfélszolgálat által vezetett javítási naplók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Gyártói GYIK (FAQ) weboldalak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Technikai weboldalak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Hírcsoportok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Számítógép-kézikönyvek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Eszközleírások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fórumok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 fórumok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222845"/>
                  </a:ext>
                </a:extLst>
              </a:tr>
            </a:tbl>
          </a:graphicData>
        </a:graphic>
      </p:graphicFrame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23" y="3892434"/>
            <a:ext cx="4994694" cy="2965566"/>
          </a:xfrm>
          <a:prstGeom prst="rect">
            <a:avLst/>
          </a:prstGeom>
        </p:spPr>
      </p:pic>
      <p:sp>
        <p:nvSpPr>
          <p:cNvPr id="5" name="Téglalap 4"/>
          <p:cNvSpPr/>
          <p:nvPr/>
        </p:nvSpPr>
        <p:spPr>
          <a:xfrm>
            <a:off x="6185140" y="3892433"/>
            <a:ext cx="506083" cy="29655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>
            <a:off x="11576649" y="3892433"/>
            <a:ext cx="615351" cy="29655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5708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414491"/>
              </p:ext>
            </p:extLst>
          </p:nvPr>
        </p:nvGraphicFramePr>
        <p:xfrm>
          <a:off x="0" y="1"/>
          <a:ext cx="5978106" cy="7041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3">
                  <a:extLst>
                    <a:ext uri="{9D8B030D-6E8A-4147-A177-3AD203B41FA5}">
                      <a16:colId xmlns:a16="http://schemas.microsoft.com/office/drawing/2014/main" val="2047591586"/>
                    </a:ext>
                  </a:extLst>
                </a:gridCol>
                <a:gridCol w="2989053">
                  <a:extLst>
                    <a:ext uri="{9D8B030D-6E8A-4147-A177-3AD203B41FA5}">
                      <a16:colId xmlns:a16="http://schemas.microsoft.com/office/drawing/2014/main" val="2468315776"/>
                    </a:ext>
                  </a:extLst>
                </a:gridCol>
              </a:tblGrid>
              <a:tr h="484957">
                <a:tc gridSpan="2">
                  <a:txBody>
                    <a:bodyPr/>
                    <a:lstStyle/>
                    <a:p>
                      <a:r>
                        <a:rPr lang="hu-H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lépés: A rendszer teljes működésének ellenőrzése, és lehetőség szerint megelőző intézkedések alkalmazása</a:t>
                      </a:r>
                      <a:endParaRPr lang="hu-HU" sz="1400" dirty="0"/>
                    </a:p>
                  </a:txBody>
                  <a:tcPr marL="71180" marR="71180" marT="35591" marB="35591"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938678"/>
                  </a:ext>
                </a:extLst>
              </a:tr>
              <a:tr h="3186521">
                <a:tc>
                  <a:txBody>
                    <a:bodyPr/>
                    <a:lstStyle/>
                    <a:p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Ellenőrizzuk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megoldást és a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laptop teljes működését.</a:t>
                      </a:r>
                      <a:endParaRPr lang="hu-HU" sz="1400" dirty="0"/>
                    </a:p>
                  </a:txBody>
                  <a:tcPr marL="71180" marR="71180" marT="35591" marB="35591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Indítsuk újra a laptopot.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Csatlakoztassuk minden perifériát.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Próbáljuk a laptopot akkumulátorral üzemeltetni.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Nyomtassunk ki egy dokumentumot valamelyik alkalmazásból.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Gépeljünk valamit, hogy kipróbáljuk a billentyűzetet.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Nézzük meg az Eseménynaplót, hogy tartalmaz-e figyelmeztetéseket vagy hibaüzenetet.</a:t>
                      </a:r>
                      <a:endParaRPr lang="hu-HU" sz="1400" dirty="0"/>
                    </a:p>
                  </a:txBody>
                  <a:tcPr marL="71180" marR="71180" marT="35591" marB="35591"/>
                </a:tc>
                <a:extLst>
                  <a:ext uri="{0D108BD9-81ED-4DB2-BD59-A6C34878D82A}">
                    <a16:rowId xmlns:a16="http://schemas.microsoft.com/office/drawing/2014/main" val="1314134775"/>
                  </a:ext>
                </a:extLst>
              </a:tr>
              <a:tr h="3186521">
                <a:tc>
                  <a:txBody>
                    <a:bodyPr/>
                    <a:lstStyle/>
                    <a:p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Ellenőrizzuk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megoldást és a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mobileszközök teljes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működőképességét.</a:t>
                      </a:r>
                      <a:endParaRPr lang="hu-HU" sz="1400" dirty="0"/>
                    </a:p>
                  </a:txBody>
                  <a:tcPr marL="71180" marR="71180" marT="35591" marB="35591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Indítsuk újra a mobileszközt.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Böngésszünk az interneten a </a:t>
                      </a:r>
                      <a:r>
                        <a:rPr lang="hu-HU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</a:t>
                      </a: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-Fi kapcsolatot használva.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Böngésszünk az interneten 4G, 3G vagy más mobil adatkapcsolatot használva.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Indítsunk egy telefonhívást.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Küldjünk egy szöveges üzenetet.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Nyissunk meg különféle alkalmazásokat.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Használjuk a mobileszközt egy ideig akkumulátorról.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hu-HU" sz="1400" dirty="0"/>
                    </a:p>
                  </a:txBody>
                  <a:tcPr marL="71180" marR="71180" marT="35591" marB="35591"/>
                </a:tc>
                <a:extLst>
                  <a:ext uri="{0D108BD9-81ED-4DB2-BD59-A6C34878D82A}">
                    <a16:rowId xmlns:a16="http://schemas.microsoft.com/office/drawing/2014/main" val="214507704"/>
                  </a:ext>
                </a:extLst>
              </a:tr>
            </a:tbl>
          </a:graphicData>
        </a:graphic>
      </p:graphicFrame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048825"/>
              </p:ext>
            </p:extLst>
          </p:nvPr>
        </p:nvGraphicFramePr>
        <p:xfrm>
          <a:off x="5978106" y="1"/>
          <a:ext cx="6213894" cy="4157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947">
                  <a:extLst>
                    <a:ext uri="{9D8B030D-6E8A-4147-A177-3AD203B41FA5}">
                      <a16:colId xmlns:a16="http://schemas.microsoft.com/office/drawing/2014/main" val="3197184797"/>
                    </a:ext>
                  </a:extLst>
                </a:gridCol>
                <a:gridCol w="3106947">
                  <a:extLst>
                    <a:ext uri="{9D8B030D-6E8A-4147-A177-3AD203B41FA5}">
                      <a16:colId xmlns:a16="http://schemas.microsoft.com/office/drawing/2014/main" val="442788482"/>
                    </a:ext>
                  </a:extLst>
                </a:gridCol>
              </a:tblGrid>
              <a:tr h="533363">
                <a:tc gridSpan="2">
                  <a:txBody>
                    <a:bodyPr/>
                    <a:lstStyle/>
                    <a:p>
                      <a:r>
                        <a:rPr lang="hu-HU" sz="14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lépés: A probléma a megoldási lépések és az eredmények dokumentálása</a:t>
                      </a:r>
                      <a:endParaRPr lang="hu-HU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99373"/>
                  </a:ext>
                </a:extLst>
              </a:tr>
              <a:tr h="3624568">
                <a:tc>
                  <a:txBody>
                    <a:bodyPr/>
                    <a:lstStyle/>
                    <a:p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probléma, a megoldási lépések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és az eredmények dokumentálása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probléma, a megoldási lépések</a:t>
                      </a:r>
                      <a:r>
                        <a:rPr lang="hu-HU" sz="1400" dirty="0" smtClean="0"/>
                        <a:t/>
                      </a:r>
                      <a:br>
                        <a:rPr lang="hu-HU" sz="1400" dirty="0" smtClean="0"/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és az eredmények dokumentálása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Engedjük, hogy a megoldást az ügyfél is ellenőrizze.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Adjuk át az ügyfélnek a papírokat.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Dokumentáljuk a probléma megoldására tett lépéseket a</a:t>
                      </a:r>
                      <a:b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munka- és a hibanaplóban.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hu-HU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Dokumentáljuk a javítás során felhasznált alkatrészeket.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hu-HU" sz="1400" dirty="0" smtClean="0"/>
                        <a:t>Dokumentáljuk a probléma megoldására fordított</a:t>
                      </a:r>
                      <a:r>
                        <a:rPr lang="hu-HU" sz="1400" baseline="0" dirty="0" smtClean="0"/>
                        <a:t> időt.</a:t>
                      </a:r>
                      <a:endParaRPr lang="hu-H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972828"/>
                  </a:ext>
                </a:extLst>
              </a:tr>
            </a:tbl>
          </a:graphicData>
        </a:graphic>
      </p:graphicFrame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630" y="4157932"/>
            <a:ext cx="4390845" cy="3027477"/>
          </a:xfrm>
          <a:prstGeom prst="rect">
            <a:avLst/>
          </a:prstGeom>
        </p:spPr>
      </p:pic>
      <p:sp>
        <p:nvSpPr>
          <p:cNvPr id="7" name="Téglalap 6"/>
          <p:cNvSpPr/>
          <p:nvPr/>
        </p:nvSpPr>
        <p:spPr>
          <a:xfrm>
            <a:off x="5978106" y="4157932"/>
            <a:ext cx="911524" cy="27000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Téglalap 7"/>
          <p:cNvSpPr/>
          <p:nvPr/>
        </p:nvSpPr>
        <p:spPr>
          <a:xfrm>
            <a:off x="11280475" y="4157932"/>
            <a:ext cx="911525" cy="270006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78299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Köszönöm a figyelmet!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2176" y="2313727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Csoport tagjai: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Nyika</a:t>
            </a:r>
            <a:r>
              <a:rPr lang="hu-HU" dirty="0"/>
              <a:t> Gergő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Nyikos Dominik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Papp László István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Percze Kristóf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Rádi</a:t>
            </a:r>
            <a:r>
              <a:rPr lang="hu-HU" dirty="0"/>
              <a:t> Balázs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Ratkai</a:t>
            </a:r>
            <a:r>
              <a:rPr lang="hu-HU" dirty="0"/>
              <a:t> József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Révész Barnabás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65462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129</TotalTime>
  <Words>964</Words>
  <Application>Microsoft Office PowerPoint</Application>
  <PresentationFormat>Szélesvásznú</PresentationFormat>
  <Paragraphs>140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2</vt:lpstr>
      <vt:lpstr>Jegyezhető</vt:lpstr>
      <vt:lpstr>Laptopok és egyéb mobileszközök</vt:lpstr>
      <vt:lpstr>Mobilitás</vt:lpstr>
      <vt:lpstr>Laptopok</vt:lpstr>
      <vt:lpstr>Okostelefonok jellemzői</vt:lpstr>
      <vt:lpstr>Laptop alaplapok</vt:lpstr>
      <vt:lpstr>Bluetooth, mobil adatkapcsolat</vt:lpstr>
      <vt:lpstr>ACPI-beállítások a BIOS-ban</vt:lpstr>
      <vt:lpstr>Bővítőkártyák</vt:lpstr>
      <vt:lpstr>PowerPoint-bemutató</vt:lpstr>
      <vt:lpstr>PowerPoint-bemutató</vt:lpstr>
      <vt:lpstr>PowerPoint-bemutató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Laptopok és egyéb mobileszközök</dc:title>
  <dc:creator>tanulo</dc:creator>
  <cp:lastModifiedBy>tanulo</cp:lastModifiedBy>
  <cp:revision>14</cp:revision>
  <dcterms:created xsi:type="dcterms:W3CDTF">2022-02-01T11:08:38Z</dcterms:created>
  <dcterms:modified xsi:type="dcterms:W3CDTF">2022-02-03T08:53:35Z</dcterms:modified>
</cp:coreProperties>
</file>